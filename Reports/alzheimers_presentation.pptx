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C2B3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C2B38"/>
                </a:solidFill>
                <a:latin typeface="Arial"/>
              </a:rPr>
              <a:t>Recall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9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Log. Reg.</c:v>
                  </c:pt>
                  <c:pt idx="1">
                    <c:v>SVM</c:v>
                  </c:pt>
                  <c:pt idx="2">
                    <c:v>XGBoost</c:v>
                  </c:pt>
                  <c:pt idx="3">
                    <c:v>Rnd Forest</c:v>
                  </c:pt>
                  <c:pt idx="4">
                    <c:v>MLP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89.7</c:v>
                </c:pt>
                <c:pt idx="1">
                  <c:v>90.7</c:v>
                </c:pt>
                <c:pt idx="2">
                  <c:v>96.1</c:v>
                </c:pt>
                <c:pt idx="3">
                  <c:v>94.2</c:v>
                </c:pt>
                <c:pt idx="4">
                  <c:v>93.5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2B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1A4A6E">
              <a:alpha val="45000"/>
            </a:srgbClr>
          </a:solidFill>
          <a:ln w="19050">
            <a:solidFill>
              <a:srgbClr val="2196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4572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🧠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Alzheimer's Disease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029200" cy="0"/>
          </a:xfrm>
          <a:prstGeom prst="line">
            <a:avLst/>
          </a:prstGeom>
          <a:noFill/>
          <a:ln w="12700">
            <a:solidFill>
              <a:srgbClr val="1A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Fahmy   ·   Myar Sadek   ·   Nadeem Shokry   ·   Omar Salama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Dr. Sahar Selim Fouad Soussa   |   Nile University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663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·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Early Detection Matters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600200"/>
            <a:ext cx="640080" cy="640080"/>
          </a:xfrm>
          <a:prstGeom prst="ellipse">
            <a:avLst/>
          </a:prstGeom>
          <a:solidFill>
            <a:srgbClr val="E8F1F8"/>
          </a:solidFill>
          <a:ln w="1905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1148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dementia worldwide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600200"/>
            <a:ext cx="640080" cy="640080"/>
          </a:xfrm>
          <a:prstGeom prst="ellipse">
            <a:avLst/>
          </a:prstGeom>
          <a:solidFill>
            <a:srgbClr val="E8F1F8"/>
          </a:solidFill>
          <a:ln w="19050">
            <a:solidFill>
              <a:srgbClr val="2196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4612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4612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417320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600200"/>
            <a:ext cx="640080" cy="640080"/>
          </a:xfrm>
          <a:prstGeom prst="ellipse">
            <a:avLst/>
          </a:prstGeom>
          <a:solidFill>
            <a:srgbClr val="E8F1F8"/>
          </a:solidFill>
          <a:ln w="19050">
            <a:solidFill>
              <a:srgbClr val="2196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⏳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80760" y="23317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yrs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08076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damage begins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symptoms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931920"/>
            <a:ext cx="8321040" cy="777240"/>
          </a:xfrm>
          <a:prstGeom prst="rect">
            <a:avLst/>
          </a:prstGeom>
          <a:solidFill>
            <a:srgbClr val="1A4A6E">
              <a:alpha val="15000"/>
            </a:srgbClr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931920"/>
            <a:ext cx="54864" cy="77724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31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symptoms appear, significant brain damage is already irreversible — and the window for effective treatment has closed.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&amp; Feature Set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329184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ADNI Database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011680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clinical CSV tables merged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study phases (ADNI1 → ADNI4)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visit-code harmonisation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left-merge pipeline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MICE imputation for missing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417320"/>
            <a:ext cx="4206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417320"/>
            <a:ext cx="54864" cy="329184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 — 3 Domains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09160" y="2011680"/>
            <a:ext cx="3794760" cy="74980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0482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/ Genetic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00600" y="23317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EDUCATION, MARITAL STATUS, APOE4 COUNT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880360"/>
            <a:ext cx="3794760" cy="749808"/>
          </a:xfrm>
          <a:prstGeom prst="rect">
            <a:avLst/>
          </a:prstGeom>
          <a:solidFill>
            <a:srgbClr val="00796B">
              <a:alpha val="12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916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&amp; Functional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MMSE, CDR, FAQ, ADAS, LOGICAL MEMORY, RAVLT AVERAGE...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3749040"/>
            <a:ext cx="3794760" cy="749808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785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Imaging (MRI)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4069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VOLUME, VENTRICULAR VOLUME, HIPPOCAMPAL VOLUME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label: PROGRESSOR = 1 if patient converts to AD at any follow-up visit, else 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Machine Learning Models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157276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1600200"/>
            <a:ext cx="640080" cy="640080"/>
          </a:xfrm>
          <a:prstGeom prst="ellipse">
            <a:avLst/>
          </a:prstGeom>
          <a:solidFill>
            <a:srgbClr val="1565C0">
              <a:alpha val="18000"/>
            </a:srgbClr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92608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regularisation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4069080"/>
            <a:ext cx="1572768" cy="32004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12264" y="1417320"/>
            <a:ext cx="157276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600200"/>
            <a:ext cx="640080" cy="640080"/>
          </a:xfrm>
          <a:prstGeom prst="ellipse">
            <a:avLst/>
          </a:prstGeom>
          <a:solidFill>
            <a:srgbClr val="00796B">
              <a:alpha val="18000"/>
            </a:srgbClr>
          </a:solidFill>
          <a:ln w="19050">
            <a:solidFill>
              <a:srgbClr val="0079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12264" y="235915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12264" y="292608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12264" y="4069080"/>
            <a:ext cx="1572768" cy="320040"/>
          </a:xfrm>
          <a:prstGeom prst="rect">
            <a:avLst/>
          </a:prstGeom>
          <a:solidFill>
            <a:srgbClr val="00796B">
              <a:alpha val="20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048" y="1417320"/>
            <a:ext cx="157276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79392" y="1600200"/>
            <a:ext cx="640080" cy="640080"/>
          </a:xfrm>
          <a:prstGeom prst="ellipse">
            <a:avLst/>
          </a:prstGeom>
          <a:solidFill>
            <a:srgbClr val="E65100">
              <a:alpha val="18000"/>
            </a:srgbClr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13048" y="235915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13048" y="292608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gbtree booster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estimators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13048" y="4069080"/>
            <a:ext cx="1572768" cy="320040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3832" y="1417320"/>
            <a:ext cx="157276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0176" y="1600200"/>
            <a:ext cx="640080" cy="640080"/>
          </a:xfrm>
          <a:prstGeom prst="ellipse">
            <a:avLst/>
          </a:prstGeom>
          <a:solidFill>
            <a:srgbClr val="6A1B9A">
              <a:alpha val="18000"/>
            </a:srgbClr>
          </a:solidFill>
          <a:ln w="1905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0176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🌳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13832" y="235915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13832" y="292608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Grid-search tuned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13832" y="4069080"/>
            <a:ext cx="1572768" cy="320040"/>
          </a:xfrm>
          <a:prstGeom prst="rect">
            <a:avLst/>
          </a:prstGeom>
          <a:solidFill>
            <a:srgbClr val="6A1B9A">
              <a:alpha val="2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14616" y="1417320"/>
            <a:ext cx="1572768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0" y="1600200"/>
            <a:ext cx="640080" cy="640080"/>
          </a:xfrm>
          <a:prstGeom prst="ellipse">
            <a:avLst/>
          </a:prstGeom>
          <a:solidFill>
            <a:srgbClr val="AD1457">
              <a:alpha val="18000"/>
            </a:srgbClr>
          </a:solidFill>
          <a:ln w="19050">
            <a:solidFill>
              <a:srgbClr val="AD14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14616" y="2359152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14616" y="2926080"/>
            <a:ext cx="15727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+ Dropout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14616" y="4069080"/>
            <a:ext cx="1572768" cy="320040"/>
          </a:xfrm>
          <a:prstGeom prst="rect">
            <a:avLst/>
          </a:prstGeom>
          <a:solidFill>
            <a:srgbClr val="AD1457">
              <a:alpha val="20000"/>
            </a:srgbClr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E8F1F8"/>
          </a:solidFill>
          <a:ln w="12700">
            <a:solidFill>
              <a:srgbClr val="D3E4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5-fold Stratified Cross-Validation  ·  StandardScaler (per fold)  ·  class_weight='balanced'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5-Fold Cross-Validation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822960"/>
                <a:gridCol w="822960"/>
                <a:gridCol w="822960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5669280" y="1325880"/>
          <a:ext cx="3063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in class  ·  All models: ROC-AUC ≥ 0.95  ·  Recall range: 0.897 – 0.961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50876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28800"/>
            <a:ext cx="502920" cy="502920"/>
          </a:xfrm>
          <a:prstGeom prst="ellipse">
            <a:avLst/>
          </a:prstGeom>
          <a:solidFill>
            <a:srgbClr val="E65100">
              <a:alpha val="18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4904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Best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85623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0.961 recall: flags ~96 out of every 100 future AD patients. Best for clinical screening where missing a case is the most critical error.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17320"/>
            <a:ext cx="54864" cy="150876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828800"/>
            <a:ext cx="502920" cy="50292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49047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 — Most Readable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85623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F1-score (0.776). L1 coefficients directly tell clinicians which features drove a high-risk prediction.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081528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81528"/>
            <a:ext cx="54864" cy="150876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493008"/>
            <a:ext cx="502920" cy="502920"/>
          </a:xfrm>
          <a:prstGeom prst="ellipse">
            <a:avLst/>
          </a:prstGeom>
          <a:solidFill>
            <a:srgbClr val="00796B">
              <a:alpha val="18000"/>
            </a:srgbClr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154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Converge at 0.954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520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 ROC-AUC across all five models shows the feature engineering pipeline is the real driver of performance.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081528"/>
            <a:ext cx="3977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81528"/>
            <a:ext cx="54864" cy="150876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93008"/>
            <a:ext cx="502920" cy="502920"/>
          </a:xfrm>
          <a:prstGeom prst="ellipse">
            <a:avLst/>
          </a:prstGeom>
          <a:solidFill>
            <a:srgbClr val="6A1B9A">
              <a:alpha val="18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493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31546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19 Features = Routine 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520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MMSE, CDR, APOE4 blood test, and standard MRI. No extra procedures needed — fits into existing clinical workflows.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DEPLOYMENT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Prediction Interface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338328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Clinician enters 19 patient values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All five models run simultaneously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Each model outputs a progression probability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Results shown side by side for comparison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Clinician uses output to guide referral decision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E4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54864" cy="338328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54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2048256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2029968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clinical language — no technical variable names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92040" y="2761488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672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Probabilities, not just yes/no — clinician decides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3474720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76672" y="3456432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data collection beyond routine assessment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92040" y="4187952"/>
            <a:ext cx="384048" cy="384048"/>
          </a:xfrm>
          <a:prstGeom prst="ellipse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76672" y="4169664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clinicians, does not replace judgment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trained on 10 ADNI clinical tables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19-feature multimodal matrix: demographics, genetics, cognition, MRI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all reaching ROC-AUC &gt; 0.95 and Recall &gt; 0.89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web interface showing all model predictions at once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502920"/>
            <a:ext cx="2743200" cy="4114800"/>
          </a:xfrm>
          <a:prstGeom prst="rect">
            <a:avLst/>
          </a:prstGeom>
          <a:solidFill>
            <a:srgbClr val="1A4A6E">
              <a:alpha val="30000"/>
            </a:srgbClr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114300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change features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 of MMSE / hippocampal decline)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amyloid &amp; tau biomarkers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patient-level explanations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system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University  ·  Department of Computer Science  ·  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Detection of Alzheimer's Disease Using Machine Learning</dc:title>
  <dc:subject>PptxGenJS Presentation</dc:subject>
  <dc:creator>PptxGenJS</dc:creator>
  <cp:lastModifiedBy>PptxGenJS</cp:lastModifiedBy>
  <cp:revision>1</cp:revision>
  <dcterms:created xsi:type="dcterms:W3CDTF">2026-05-19T23:39:41Z</dcterms:created>
  <dcterms:modified xsi:type="dcterms:W3CDTF">2026-05-19T23:39:41Z</dcterms:modified>
</cp:coreProperties>
</file>